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PROPOSTA TÉCNICA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ECE7F7"/>
                </a:solidFill>
                <a:latin typeface="Bebas Neue"/>
              </a:rPr>
              <a:t>GirosBet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90B8"/>
                </a:solidFill>
                <a:latin typeface="Inter"/>
              </a:rPr>
              <a:t>Uma plataforma que já roda, com a identidade GirosBet, um CMS próprio e pronta para ser uma marca entre várias.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212080"/>
            <a:ext cx="1828800" cy="12700"/>
          </a:xfrm>
          <a:prstGeom prst="rect">
            <a:avLst/>
          </a:prstGeom>
          <a:solidFill>
            <a:srgbClr val="E14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349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Rascunho v0.1 · setembro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ONDE A GIROSBET ESTÁ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O site de hoje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Next.js / React, tema escuro, sidebar fixa, ticker de ganhos, carrosséis por categoria e provedor.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Identidade forte: roxo #901bf7, magenta de CTA #e145ff, fundo #03000b, Inter + Bebas Neue.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Conteúdo do lobby depende de deploy: sem CMS para lobbies, banners, menus e destaques.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A área logada é o custo que cresce: cada evolução toca perfil, carteira e KYC ao mesmo tempo.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[dores a confirmar com o Renan]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92024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A90B8"/>
                </a:solidFill>
                <a:latin typeface="Inter"/>
              </a:rPr>
              <a:t>O que a v2 entrega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9A90B8"/>
                </a:solidFill>
                <a:latin typeface="Inter"/>
              </a:rPr>
              <a:t>Front Angular 21 já em produção no BetAki, retematizado.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9A90B8"/>
                </a:solidFill>
                <a:latin typeface="Inter"/>
              </a:rPr>
              <a:t>CMS Laravel com 16 módulos: banners, carrosséis, slots, categorias, lobbies, menus, showcases, top lists, prêmios, ganhadores, footers, usuários.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9A90B8"/>
                </a:solidFill>
                <a:latin typeface="Inter"/>
              </a:rPr>
              <a:t>White-label real: a GirosBet é a segunda marca de um mecanismo replicável.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MESMA PLATAFORMA, DUAS MARCAS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Lobby de cassino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5303520" cy="3314700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37360"/>
            <a:ext cx="5303520" cy="3314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2120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0B8"/>
                </a:solidFill>
                <a:latin typeface="Inter"/>
              </a:rPr>
              <a:t>BetAki · marca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52120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0B8"/>
                </a:solidFill>
                <a:latin typeface="Inter"/>
              </a:rPr>
              <a:t>GirosBet · marca 2, mesmo build, tema trocado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CONTEÚDO VINDO DO CMS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Cassino ao vivo e provedores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5303520" cy="3314700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37360"/>
            <a:ext cx="5303520" cy="3314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212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Categorias, ordem das seções, banners, carrossel e destaques são editados no painel, sem deploy.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IDENTIDADE APLICADA DE PONTA A PONTA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Login e mobile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949440" cy="4343400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63040"/>
            <a:ext cx="2194560" cy="474925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Por que esta plataforma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2606040" cy="3108960"/>
          </a:xfrm>
          <a:prstGeom prst="rect">
            <a:avLst/>
          </a:prstGeom>
          <a:solidFill>
            <a:srgbClr val="110826"/>
          </a:solidFill>
          <a:ln>
            <a:solidFill>
              <a:srgbClr val="2A1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E145FF"/>
                </a:solidFill>
                <a:latin typeface="Bebas Neue"/>
              </a:rPr>
              <a:t>Angular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ECE7F7"/>
                </a:solidFill>
                <a:latin typeface="Inter"/>
              </a:rPr>
              <a:t>Zoneless, standalone, signals, esbuild. Builds rápidos, bundle menor, menos bugs de render.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39" y="2103120"/>
            <a:ext cx="2606040" cy="3108960"/>
          </a:xfrm>
          <a:prstGeom prst="rect">
            <a:avLst/>
          </a:prstGeom>
          <a:solidFill>
            <a:srgbClr val="110826"/>
          </a:solidFill>
          <a:ln>
            <a:solidFill>
              <a:srgbClr val="2A1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19" y="22860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E145FF"/>
                </a:solidFill>
                <a:latin typeface="Bebas Neue"/>
              </a:rPr>
              <a:t>Tailwind 4 +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19" y="29260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ECE7F7"/>
                </a:solidFill>
                <a:latin typeface="Inter"/>
              </a:rPr>
              <a:t>Retematizar é trocar um arquivo. A GirosBet levou 11 minutos até o primeiro build verde.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59" y="2103120"/>
            <a:ext cx="2606040" cy="3108960"/>
          </a:xfrm>
          <a:prstGeom prst="rect">
            <a:avLst/>
          </a:prstGeom>
          <a:solidFill>
            <a:srgbClr val="110826"/>
          </a:solidFill>
          <a:ln>
            <a:solidFill>
              <a:srgbClr val="2A1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39" y="22860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E145FF"/>
                </a:solidFill>
                <a:latin typeface="Bebas Neue"/>
              </a:rPr>
              <a:t>API por contrato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39" y="29260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ECE7F7"/>
                </a:solidFill>
                <a:latin typeface="Inter"/>
              </a:rPr>
              <a:t>Cliente gerado por OpenAPI: o contrato do backend vira código, não digitação.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98280" y="2103120"/>
            <a:ext cx="2606040" cy="3108960"/>
          </a:xfrm>
          <a:prstGeom prst="rect">
            <a:avLst/>
          </a:prstGeom>
          <a:solidFill>
            <a:srgbClr val="110826"/>
          </a:solidFill>
          <a:ln>
            <a:solidFill>
              <a:srgbClr val="2A1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22860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E145FF"/>
                </a:solidFill>
                <a:latin typeface="Bebas Neue"/>
              </a:rPr>
              <a:t>CMS Laravel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29260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ECE7F7"/>
                </a:solidFill>
                <a:latin typeface="Inter"/>
              </a:rPr>
              <a:t>API pública e autenticada, filas, S3, papéis e permissões, sincronização com o agregador.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ESCOPO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Seis fases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E145FF"/>
                </a:solidFill>
                <a:latin typeface="Bebas Ne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7F7"/>
                </a:solidFill>
                <a:latin typeface="Inter"/>
              </a:rPr>
              <a:t>Fundação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05740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0B8"/>
                </a:solidFill>
                <a:latin typeface="Inter"/>
              </a:rPr>
              <a:t>tooling, white-label, BetAki como marca 1 sem regressão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2057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ECE7F7"/>
                </a:solidFill>
                <a:latin typeface="Inter"/>
              </a:rPr>
              <a:t>feito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578608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7004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E145FF"/>
                </a:solidFill>
                <a:latin typeface="Bebas Neu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7157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7F7"/>
                </a:solidFill>
                <a:latin typeface="Inter"/>
              </a:rPr>
              <a:t>Marca GirosBet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715768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0B8"/>
                </a:solidFill>
                <a:latin typeface="Inter"/>
              </a:rPr>
              <a:t>pacote de marca, home, lobbies, busca, header, sidebar, footer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2715768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ECE7F7"/>
                </a:solidFill>
                <a:latin typeface="Inter"/>
              </a:rPr>
              <a:t>em andamento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236976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28416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E145FF"/>
                </a:solidFill>
                <a:latin typeface="Bebas Neu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37413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7F7"/>
                </a:solidFill>
                <a:latin typeface="Inter"/>
              </a:rPr>
              <a:t>CMS GirosBet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374136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0B8"/>
                </a:solidFill>
                <a:latin typeface="Inter"/>
              </a:rPr>
              <a:t>instância própria, importação de catálogo, menus, banners, carrosséis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337413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ECE7F7"/>
                </a:solidFill>
                <a:latin typeface="Inter"/>
              </a:rPr>
              <a:t>[prazo]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895344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86784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E145FF"/>
                </a:solidFill>
                <a:latin typeface="Bebas Neu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3250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7F7"/>
                </a:solidFill>
                <a:latin typeface="Inter"/>
              </a:rPr>
              <a:t>Jogo e conta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032504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0B8"/>
                </a:solidFill>
                <a:latin typeface="Inter"/>
              </a:rPr>
              <a:t>lançador do agregador, login e cadastro contra o backend da GirosBet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4032504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ECE7F7"/>
                </a:solidFill>
                <a:latin typeface="Inter"/>
              </a:rPr>
              <a:t>[prazo]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553712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6451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E145FF"/>
                </a:solidFill>
                <a:latin typeface="Bebas Neu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69087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7F7"/>
                </a:solidFill>
                <a:latin typeface="Inter"/>
              </a:rPr>
              <a:t>Área logada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690872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0B8"/>
                </a:solidFill>
                <a:latin typeface="Inter"/>
              </a:rPr>
              <a:t>camada de API nova: perfil, carteira, PIX, saque, histórico, KYC, bônus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469087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ECE7F7"/>
                </a:solidFill>
                <a:latin typeface="Inter"/>
              </a:rPr>
              <a:t>[prazo]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212080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E145FF"/>
                </a:solidFill>
                <a:latin typeface="Bebas Neue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349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7F7"/>
                </a:solidFill>
                <a:latin typeface="Inter"/>
              </a:rPr>
              <a:t>Go-live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0" y="534924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0B8"/>
                </a:solidFill>
                <a:latin typeface="Inter"/>
              </a:rPr>
              <a:t>SEO, analytics, textos legais, monitoramento, cutover de domínio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53492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ECE7F7"/>
                </a:solidFill>
                <a:latin typeface="Inter"/>
              </a:rPr>
              <a:t>[prazo]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5870448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0B8"/>
                </a:solidFill>
                <a:latin typeface="Inter"/>
              </a:rPr>
              <a:t>Fora de escopo: sportsbook novo, app nativo, programa de afiliados, idiomas além de pt-BR.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PARA COMEÇAR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O que precisamos da GirosBet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1.  Kit de marca: logo em vetor, paleta oficial (o roxo principal é #901bf7 ou #e145ff?), fontes, mascote.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2.  Documentação e sandbox do backend e do agregador: auth, carteira, PIX, catálogo, lançamento, webhooks.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3.  Vendor de sportsbook e de KYC, com credenciais de teste.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4.  Textos legais, licenciamento e selos do rodapé.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5.  Contas de GTM/GA, pixel de afiliados, chat.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6.  Domínio e infra de deploy, ou definimos a nossa.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7.  Uma pessoa de produto do lado da GirosBet para validar a área logada.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RISCOS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O que pode dar errado, e o que fazemos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145FF"/>
                </a:solidFill>
                <a:latin typeface="Inter"/>
              </a:rPr>
              <a:t>Backend desconhecido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01168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ECE7F7"/>
                </a:solidFill>
                <a:latin typeface="Inter"/>
              </a:rPr>
              <a:t>A área logada é o maior custo. Spike de 1 semana lendo a documentação antes de fechar a fase 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145FF"/>
                </a:solidFill>
                <a:latin typeface="Inter"/>
              </a:rPr>
              <a:t>Paridade de conteúdo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92608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ECE7F7"/>
                </a:solidFill>
                <a:latin typeface="Inter"/>
              </a:rPr>
              <a:t>Catálogo importado por job, não cadastrado à mão. O CMS já sincroniza com o agregador.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145FF"/>
                </a:solidFill>
                <a:latin typeface="Inter"/>
              </a:rPr>
              <a:t>Regressão no BetAki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84048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ECE7F7"/>
                </a:solidFill>
                <a:latin typeface="Inter"/>
              </a:rPr>
              <a:t>White-label feito com o BetAki como marca 1 e comparação visual antes de qualquer merge.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548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145FF"/>
                </a:solidFill>
                <a:latin typeface="Inter"/>
              </a:rPr>
              <a:t>Escopo crescendo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475488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ECE7F7"/>
                </a:solidFill>
                <a:latin typeface="Inter"/>
              </a:rPr>
              <a:t>Tudo fora da tabela de fases entra como fase 6, negociada à parte.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Três passos para começar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800" b="0">
                <a:solidFill>
                  <a:srgbClr val="ECE7F7"/>
                </a:solidFill>
                <a:latin typeface="Inter"/>
              </a:rPr>
              <a:t>1.  Reunião de 45 min para validar dores, backend e vendors.</a:t>
            </a: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ECE7F7"/>
                </a:solidFill>
                <a:latin typeface="Inter"/>
              </a:rPr>
              <a:t>2.  Recebimento do kit de marca e das credenciais de sandbox.</a:t>
            </a: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ECE7F7"/>
                </a:solidFill>
                <a:latin typeface="Inter"/>
              </a:rPr>
              <a:t>3.  Fase 0 já está em andamento do nosso lado: a fase 1 começa no dia do kit.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Modelo comercial: [fechado por fase | mensalidade de evolução | licença do white-label por marca] — a definir antes do envio.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