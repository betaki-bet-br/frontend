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embeddedFontLst>
    <p:embeddedFont>
      <p:font typeface="Inter" pitchFamily="34" charset="0"/>
      <p:regular r:id="rId24"/>
      <p:bold r:id="rId25"/>
    </p:embeddedFont>
    <p:embeddedFont>
      <p:font typeface="Bebas Neue" pitchFamily="34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01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PROPOSTA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0">
                <a:solidFill>
                  <a:srgbClr val="ECE7F7"/>
                </a:solidFill>
                <a:latin typeface="Bebas Neue"/>
              </a:rPr>
              <a:t>GirosBet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9A90B8"/>
                </a:solidFill>
                <a:latin typeface="Inter"/>
              </a:rPr>
              <a:t>A identidade da GirosBet rodando numa plataforma que já está de pé: front Angular 21, CMS próprio para a operação e os estados do produto já navegáveis em staging: lobby, jogo, conta e caixa.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40680"/>
            <a:ext cx="2011680" cy="9525"/>
          </a:xfrm>
          <a:prstGeom prst="rect">
            <a:avLst/>
          </a:prstGeom>
          <a:solidFill>
            <a:srgbClr val="E1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v0.5 · 4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ONDE A GIROSBET ESTÁ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Do site de hoje para a 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3794760"/>
          </a:xfrm>
          <a:prstGeom prst="roundRect">
            <a:avLst>
              <a:gd name="adj" fmla="val 4500"/>
            </a:avLst>
          </a:prstGeom>
          <a:solidFill>
            <a:srgbClr val="07020F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A90B8"/>
                </a:solidFill>
                <a:latin typeface="Inter"/>
              </a:rPr>
              <a:t>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Next.js / React, tema escuro, sidebar fixa, ticker de ganhos, carrosséis por categoria e provedor.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Identidade forte: roxo #901bf7, magenta de CTA #e145ff, fundo #03000b, Inter + Bebas Neue.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O conteúdo do lobby depende de deploy: não há CMS para lobbies, banners, menus e destaques.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A área logada é o custo que cresce: cada evolução toca perfil, carteira e KYC ao mesmo tempo.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[dores a confirmar com o Renan]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303520" cy="3794760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NA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Front Angular 21 já em produção, com a identidade GirosBet aplicada do header ao rodapé.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CMS Laravel com 16 módulos: banners, carrosséis, slots, categorias, lobbies, menus, showcases, top lists, prêmios, ganhadores, footers e usuários.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Lobby, busca, provedores, login, cadastro, jogo, conta e depósito já navegáveis.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00" b="0">
                <a:solidFill>
                  <a:srgbClr val="ECE7F7"/>
                </a:solidFill>
                <a:latin typeface="Inter"/>
              </a:rPr>
              <a:t>A operação publica conteúdo sem deploy e sem depender de desenvolvedor.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1 · LOBBY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A home da GirosBet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6583680" cy="411480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0" y="1691640"/>
            <a:ext cx="3794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00" b="0">
                <a:solidFill>
                  <a:srgbClr val="9A90B8"/>
                </a:solidFill>
                <a:latin typeface="Inter"/>
              </a:rPr>
              <a:t>Header escuro com toggle Cassino / Ao vivo, busca inline e os botões da marca.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00" b="0">
                <a:solidFill>
                  <a:srgbClr val="9A90B8"/>
                </a:solidFill>
                <a:latin typeface="Inter"/>
              </a:rPr>
              <a:t>Sidebar com banner, tiles de Cupom e Promo, atalhos e populares. Cada bloco vem do CMS.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00" b="0">
                <a:solidFill>
                  <a:srgbClr val="9A90B8"/>
                </a:solidFill>
                <a:latin typeface="Inter"/>
              </a:rPr>
              <a:t>Hero, seções, ordem dos carrosséis, jogos em destaque e valores de prêmio: tudo editável no painel.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40680"/>
            <a:ext cx="137160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4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145FF"/>
                </a:solidFill>
                <a:latin typeface="Inter"/>
              </a:rPr>
              <a:t>RODANDO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2 · CATÁLOGO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Ao vivo e provedores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340096" cy="333756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Cassino ao vivo: categorias, filtros e cards com a identidade da marca.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340096" cy="333756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6364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Provedores: catálogo importado do agregador, não cadastrado à mão.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QUEM MANDA NO CONTEÚDO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O CMS é da GirosBet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90B8"/>
                </a:solidFill>
                <a:latin typeface="Inter"/>
              </a:rPr>
              <a:t>Uma instância Laravel 12 própria, com API pública e autenticada, filas, S3 e permissões por papel. Tudo o que aparece nas telas anteriores sai daqui.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23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Banners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895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posições, agendamento, público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377440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523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Carrosséis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8895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slides do hero, ordem e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523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Lobbies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895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quais seções, em que ordem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377440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7" y="2523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Categorias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28895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chips, ícones e vitrines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47872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6941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05993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catálogo sincronizado com o agregador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547872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36941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Provedores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05993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logos, contagem, destaque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47872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6941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Menus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05993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sidebar, mobile e rodapé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39" y="3547872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8007" y="36941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Showcases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7" y="405993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vitrines temáticas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18304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86460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Top lists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2303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top 10, mais premiados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718304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486460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Ganhadores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2303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lotes de ganhos exibidos no lobby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718304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86460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Prêmios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2303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campanhas e valores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39" y="4718304"/>
            <a:ext cx="2606040" cy="987552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8007" y="486460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E145FF"/>
                </a:solidFill>
                <a:latin typeface="Bebas Neue"/>
              </a:rPr>
              <a:t>Footers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7" y="52303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textos legais, selos, patrocinadores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Publicar uma promoção, trocar o hero ou reordenar o lobby deixa de ser tarefa de desenvolvedor.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3 ·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Login e cadastro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266944" cy="329184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Login com e-mail ou CPF, recuperação de senha e bloco de jogo responsável.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266944" cy="329184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6364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Cadastro completo, pronto para ser ligado ao backend da GirosBet.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Estas telas ainda usam o tema padrão da plataforma: a pele da marca nelas entra junto com a ligação ao backend da GirosBet (fase 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4 · JOGADOR LOGADO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Sessão, saldo e conta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291072" cy="393192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7150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Header logado: saldo em destaque, atalho de depósito e acesso à conta.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4561550" cy="329184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086600" y="5074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Modal da conta: saldo sacável, bônus de cassino e de esportes, atalho para Minha conta.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Telas reais da plataforma com dados de demonstração. O backend da GirosBet entra no lugar do mock na fase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5 · JOGO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O jogo dentro da marca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291072" cy="393192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7150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Modo jogo: header reduzido com voltar, tela cheia, compartilhar e depósito sempre à mão.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1816882" cy="393192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3524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Mesma sessão no celular.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A plataforma entrega ao agregador a sessão autenticada, a moeda e as URLs de lobby, retorno e depósito; o jogo roda no iframe (aqui, um stub de demonstração).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6 · CAIXA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Depósito por PIX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355146" cy="4114800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Valores rápidos, valor mínimo, aviso de titularidade do CPF e bloco de jogo responsável.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94960" cy="4114800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O QUE FALTA AQUI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00" b="0">
                <a:solidFill>
                  <a:srgbClr val="ECE7F7"/>
                </a:solidFill>
                <a:latin typeface="Inter"/>
              </a:rPr>
              <a:t>As telas de carteira, saque, histórico, bônus e KYC existem e funcionam.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00" b="0">
                <a:solidFill>
                  <a:srgbClr val="ECE7F7"/>
                </a:solidFill>
                <a:latin typeface="Inter"/>
              </a:rPr>
              <a:t>O que muda para a GirosBet é a camada de API por baixo delas. É a fase 4, a maior da proposta.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00" b="0">
                <a:solidFill>
                  <a:srgbClr val="ECE7F7"/>
                </a:solidFill>
                <a:latin typeface="Inter"/>
              </a:rPr>
              <a:t>A pele da marca nessas telas entra junto com essa camada.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5257800"/>
            <a:ext cx="105156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A9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9A90B8"/>
                </a:solidFill>
                <a:latin typeface="Inter"/>
              </a:rPr>
              <a:t>FASE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ESTADO 7 ·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A marca no celular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91640"/>
            <a:ext cx="1732376" cy="3749039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234440" y="55321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Lobby: header enxuto, busca e grade de jogos.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91640"/>
            <a:ext cx="1732376" cy="3749039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892040" y="55321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Login com o mesmo fluxo do desktop.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691640"/>
            <a:ext cx="1732376" cy="3749039"/>
          </a:xfrm>
          <a:prstGeom prst="rect">
            <a:avLst/>
          </a:prstGeom>
          <a:ln w="9525">
            <a:solidFill>
              <a:srgbClr val="2A154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49640" y="55321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0B8"/>
                </a:solidFill>
                <a:latin typeface="Inter"/>
              </a:rPr>
              <a:t>Jogo em tela cheia, com saldo e depósito.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Mesmo build, mesmo CMS: o mobile não é um app à parte para manter.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Por que esta plataforma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E145FF"/>
                </a:solidFill>
                <a:latin typeface="Bebas Neue"/>
              </a:rPr>
              <a:t>Angular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CE7F7"/>
                </a:solidFill>
                <a:latin typeface="Inter"/>
              </a:rPr>
              <a:t>Zoneless, standalone, signals, esbuild. Builds rápidos, bundle menor, menos bugs de render.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6596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1284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E145FF"/>
                </a:solidFill>
                <a:latin typeface="Bebas Neue"/>
              </a:rPr>
              <a:t>Tailwind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CE7F7"/>
                </a:solidFill>
                <a:latin typeface="Inter"/>
              </a:rPr>
              <a:t>Tema por tokens semânticos: retematizar a marca é trocar um arquivo, não caçar 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E145FF"/>
                </a:solidFill>
                <a:latin typeface="Bebas Neue"/>
              </a:rPr>
              <a:t>API por contrato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803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CE7F7"/>
                </a:solidFill>
                <a:latin typeface="Inter"/>
              </a:rPr>
              <a:t>Cliente gerado por OpenAPI: o contrato do backend vira código, não digitação.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96596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130928"/>
          </a:solidFill>
          <a:ln w="9525">
            <a:solidFill>
              <a:srgbClr val="2A1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221284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E145FF"/>
                </a:solidFill>
                <a:latin typeface="Bebas Neue"/>
              </a:rPr>
              <a:t>CMS Laravel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39" y="28803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CE7F7"/>
                </a:solidFill>
                <a:latin typeface="Inter"/>
              </a:rPr>
              <a:t>API pública e autenticada, filas, S3, papéis e permissões, sincronização com o agregador.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90B8"/>
                </a:solidFill>
                <a:latin typeface="Inter"/>
              </a:rPr>
              <a:t>Nada aqui é protótipo: é o mesmo código que já roda em produção, com a marca da GirosBet por cima.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Trazer a v1 da GirosBet para dentro do 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Header escuro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76479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DE80"/>
                </a:solidFill>
                <a:latin typeface="Inter"/>
              </a:rPr>
              <a:t>ENTREGUE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Toggle Cassino / Ao vivo, busca inline, 'Criar conta' magenta. Roxo como acento.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Sidebar da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76479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DE80"/>
                </a:solidFill>
                <a:latin typeface="Inter"/>
              </a:rPr>
              <a:t>ENTREGUE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Banner, tiles Cupom / Promo, atalhos, populares e suporte, via CMS.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Botões e ícones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334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DE80"/>
                </a:solidFill>
                <a:latin typeface="Inter"/>
              </a:rPr>
              <a:t>ENTREGUE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Magenta como ação, raio 12 px, 'Entrar' escuro; 43 ícones coloridos da marca.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517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Logo e favicon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334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DE80"/>
                </a:solidFill>
                <a:latin typeface="Inter"/>
              </a:rPr>
              <a:t>ENTREGUE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26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Wordmark oficial, favicon e touch icon da GirosBet no 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0439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Rodapé da marca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502151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DE80"/>
                </a:solidFill>
                <a:latin typeface="Inter"/>
              </a:rPr>
              <a:t>ENTREGUE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5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Patrocinadores e selos vindos da configuração da marca.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20439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Topbar de cupom e ticker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502151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9A90B8"/>
                </a:solidFill>
                <a:latin typeface="Inter"/>
              </a:rPr>
              <a:t>PRÓXIMO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79475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Os recursos de aquisição da v1, alimentados pelo CMS.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Hero menor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7083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9A90B8"/>
                </a:solidFill>
                <a:latin typeface="Inter"/>
              </a:rPr>
              <a:t>PRÓXIMO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Um slide visível, CTA e selos na arte; catálogo já na primeira tela.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3891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Chips e seções com ritmo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37083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9A90B8"/>
                </a:solidFill>
                <a:latin typeface="Inter"/>
              </a:rPr>
              <a:t>PRÓXIMO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663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Categorias com ícone; cabeçalho com ícone, setas e 'Ver todos'.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Cards como na 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2395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9A90B8"/>
                </a:solidFill>
                <a:latin typeface="Inter"/>
              </a:rPr>
              <a:t>PRÓXIMO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321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Provedor no card, 'Jogar agora' no hover; provedores em card escuro.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57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145FF"/>
                </a:solidFill>
                <a:latin typeface="Inter"/>
              </a:rPr>
              <a:t>Entrada e conformidade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2395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9A90B8"/>
                </a:solidFill>
                <a:latin typeface="Inter"/>
              </a:rPr>
              <a:t>PRÓXIMO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5321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Diálogo único de idade + cookies; rodapé regulatório completo.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JÁ ENTREGUE · 4 DE SETEMBRO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Não é promessa: já roda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90B8"/>
                </a:solidFill>
                <a:latin typeface="Inter"/>
              </a:rPr>
              <a:t>A GirosBet roda hoje em staging local com os itens abaixo. Foi assim que as telas deste deck foram fotografadas.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9A90B8"/>
                </a:solidFill>
                <a:latin typeface="Inter"/>
              </a:rPr>
              <a:t>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12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9A90B8"/>
                </a:solidFill>
                <a:latin typeface="Inter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12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9A90B8"/>
                </a:solidFill>
                <a:latin typeface="Inter"/>
              </a:rPr>
              <a:t>COMO VALIDAMOS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145FF"/>
                </a:solidFill>
                <a:latin typeface="Inter"/>
              </a:rPr>
              <a:t>Pacote da marca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4203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config, tema, assets e textos legais num pacote só; um build para a GirosBet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420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CSS comparado como conjunto: só renomes de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44952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4553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145FF"/>
                </a:solidFill>
                <a:latin typeface="Inter"/>
              </a:rPr>
              <a:t>Layout por marca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1455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a marca escolhe o header escuro e se tem sidebar no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455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ligado por configuração, sem condicional espalhada pelo código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48456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145FF"/>
                </a:solidFill>
                <a:latin typeface="Inter"/>
              </a:rPr>
              <a:t>Header escuro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49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toggle Cassino / Ao vivo, busca inline, Entrar e Criar conta na anatomia da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49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navegável em staging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51960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5254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145FF"/>
                </a:solidFill>
                <a:latin typeface="Inter"/>
              </a:rPr>
              <a:t>Sidebar da 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35254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banner, tiles, atalhos, populares e ajuda; o CMS diz o bloco de cada menu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5254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conteúdo vindo do CMS, sem 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55464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5604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145FF"/>
                </a:solidFill>
                <a:latin typeface="Inter"/>
              </a:rPr>
              <a:t>Botões e tokens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95604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ação magenta, raio 12 px e superfícies próprias da marca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560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um arquivo de tokens por marca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458968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55955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145FF"/>
                </a:solidFill>
                <a:latin typeface="Inter"/>
              </a:rPr>
              <a:t>Ícones, logo e rodapé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55955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43 ícones coloridos gerados para a marca, wordmark, favicon e patrocinadores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55955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zero asset herdado de outra marca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62472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ESCOPO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Seis fases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145FF"/>
                </a:solidFill>
                <a:latin typeface="Bebas Neue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CE7F7"/>
                </a:solidFill>
                <a:latin typeface="Inter"/>
              </a:rPr>
              <a:t>Fundação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385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tooling, arquitetura de tema, pacote de marca e pipeline de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938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feito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145FF"/>
                </a:solidFill>
                <a:latin typeface="Bebas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7860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CE7F7"/>
                </a:solidFill>
                <a:latin typeface="Inter"/>
              </a:rPr>
              <a:t>Marca GirosBet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968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home, lobbies, busca, header, sidebar, botões, ícones e rodapé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59689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4ADE80"/>
                </a:solidFill>
                <a:latin typeface="Inter"/>
              </a:rPr>
              <a:t>em andamento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54096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145FF"/>
                </a:solidFill>
                <a:latin typeface="Bebas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3697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CE7F7"/>
                </a:solidFill>
                <a:latin typeface="Inter"/>
              </a:rPr>
              <a:t>CMS GirosBet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25526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instância própria, importação de catálogo, menus, banners, carrosséis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552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[prazo]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12464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145FF"/>
                </a:solidFill>
                <a:latin typeface="Bebas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9534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CE7F7"/>
                </a:solidFill>
                <a:latin typeface="Inter"/>
              </a:rPr>
              <a:t>Jogo e conta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91363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lançador do agregador, login e cadastro contra o backend da GirosBet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9136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[prazo]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988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145FF"/>
                </a:solidFill>
                <a:latin typeface="Bebas Neu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55371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CE7F7"/>
                </a:solidFill>
                <a:latin typeface="Inter"/>
              </a:rPr>
              <a:t>Área logada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5720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camada de API nova: perfil, carteira, PIX, saque, histórico, KYC, bônus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[prazo]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5721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145FF"/>
                </a:solidFill>
                <a:latin typeface="Bebas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212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CE7F7"/>
                </a:solidFill>
                <a:latin typeface="Inter"/>
              </a:rPr>
              <a:t>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23036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SEO, analytics, textos legais, monitoramento, cutover de domínio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2303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ECE7F7"/>
                </a:solidFill>
                <a:latin typeface="Inter"/>
              </a:rPr>
              <a:t>[prazo]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687568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0B8"/>
                </a:solidFill>
                <a:latin typeface="Inter"/>
              </a:rPr>
              <a:t>Fora de escopo: sportsbook novo, app nativo, programa de afiliados, idiomas além de pt-BR.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PARA COMEÇAR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O que precisamos da GirosBet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Kit de marca: logo em vetor, paleta oficial, fontes licenciadas e mascote, se houver.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591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Paleta: o site passou a usar superfícies neutras com magenta primário, e a v2 foi construída sobre o roxo-preto com #901bf7 de acento. Qual é a oficial?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72384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Documentação e sandbox do backend e do agregador: auth, carteira, PIX, catálogo, lançamento, webhooks.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570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02736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Vendor de sportsbook e de KYC, com credenciais de teste.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87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3308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Textos legais, licenciamento e selos do rodapé.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634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Contas de GTM/GA, pixel de afiliados e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480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Domínio e infraestrutura de deploy, ou definimos a nossa.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784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>
                <a:solidFill>
                  <a:srgbClr val="E145FF"/>
                </a:solidFill>
                <a:latin typeface="Bebas Neue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724144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Uma pessoa de produto do lado da GirosBet para validar a área logada.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RISCOS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O que pode dar errado, e o que fazemos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145FF"/>
                </a:solidFill>
                <a:latin typeface="Inter"/>
              </a:rPr>
              <a:t>Backend desconhecido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659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A área logada é o maior custo da proposta. Spike de uma semana lendo a documentação do backend e do agregador antes de fechar a fase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9008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145FF"/>
                </a:solidFill>
                <a:latin typeface="Inter"/>
              </a:rPr>
              <a:t>Paridade de 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990088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O catálogo entra por importação automatizada, não por cadastro manual: o CMS já sincroniza com o agregador.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1421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145FF"/>
                </a:solidFill>
                <a:latin typeface="Inter"/>
              </a:rPr>
              <a:t>Identidade em movimento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14216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A paleta do site mudou durante o levantamento. Fechamos a paleta oficial com o Renan antes da fase 1 terminar; trocar tokens depois é barato, refazer telas não.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3834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145FF"/>
                </a:solidFill>
                <a:latin typeface="Inter"/>
              </a:rPr>
              <a:t>Escopo crescendo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038344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CE7F7"/>
                </a:solidFill>
                <a:latin typeface="Inter"/>
              </a:rPr>
              <a:t>Tudo que não está na tabela de fases entra como fase 6, negociada à parte.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GirosBet v2 · proposta técnica · v0.5 · 4 de setembro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90B8"/>
                </a:solidFill>
                <a:latin typeface="Inter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145FF"/>
                </a:solidFill>
                <a:latin typeface="Inter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ECE7F7"/>
                </a:solidFill>
                <a:latin typeface="Bebas Neue"/>
              </a:rPr>
              <a:t>Três passos para começar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145FF"/>
                </a:solidFill>
                <a:latin typeface="Bebas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CE7F7"/>
                </a:solidFill>
                <a:latin typeface="Inter"/>
              </a:rPr>
              <a:t>Reunião de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4884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90B8"/>
                </a:solidFill>
                <a:latin typeface="Inter"/>
              </a:rPr>
              <a:t>validar dores, backend, agregador e vendors.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61488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8152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145FF"/>
                </a:solidFill>
                <a:latin typeface="Bebas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CE7F7"/>
                </a:solidFill>
                <a:latin typeface="Inter"/>
              </a:rPr>
              <a:t>Kit de marca e 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20040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90B8"/>
                </a:solidFill>
                <a:latin typeface="Inter"/>
              </a:rPr>
              <a:t>receber logo, paleta oficial e credenciais de teste.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13048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3308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145FF"/>
                </a:solidFill>
                <a:latin typeface="Bebas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CE7F7"/>
                </a:solidFill>
                <a:latin typeface="Inter"/>
              </a:rPr>
              <a:t>Fase 1 fechada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25196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90B8"/>
                </a:solidFill>
                <a:latin typeface="Inter"/>
              </a:rPr>
              <a:t>header, sidebar, botões, ícones, logo e rodapé já rodam; o resto do layout entra em seguida.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64608"/>
            <a:ext cx="10881360" cy="9525"/>
          </a:xfrm>
          <a:prstGeom prst="rect">
            <a:avLst/>
          </a:prstGeom>
          <a:solidFill>
            <a:srgbClr val="2A1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0B8"/>
                </a:solidFill>
                <a:latin typeface="Inter"/>
              </a:rPr>
              <a:t>Modelo comercial a definir: [fechado por fase | mensalidade de evolução | licença por marca].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